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642" autoAdjust="0"/>
  </p:normalViewPr>
  <p:slideViewPr>
    <p:cSldViewPr snapToGrid="0" snapToObjects="1">
      <p:cViewPr>
        <p:scale>
          <a:sx n="117" d="100"/>
          <a:sy n="117" d="100"/>
        </p:scale>
        <p:origin x="466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63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Platform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D9488"/>
                </a:solidFill>
              </a:rPr>
              <a:t>Project 3 — AI-Driven Agile Project Management for a Tech Prod Launch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841248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331720"/>
            <a:ext cx="2029968" cy="329184"/>
          </a:xfrm>
          <a:prstGeom prst="roundRect">
            <a:avLst>
              <a:gd name="adj" fmla="val 19444"/>
            </a:avLst>
          </a:prstGeom>
          <a:solidFill>
            <a:srgbClr val="0B7A75">
              <a:alpha val="25000"/>
            </a:srgbClr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3172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01  AI-Prioritized Backlog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42032" y="2331720"/>
            <a:ext cx="2029968" cy="329184"/>
          </a:xfrm>
          <a:prstGeom prst="roundRect">
            <a:avLst>
              <a:gd name="adj" fmla="val 19444"/>
            </a:avLst>
          </a:prstGeom>
          <a:solidFill>
            <a:srgbClr val="1B5EA8">
              <a:alpha val="25000"/>
            </a:srgbClr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33172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02  Sprint Planning (S5 &amp; S6)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18304" y="2331720"/>
            <a:ext cx="2029968" cy="329184"/>
          </a:xfrm>
          <a:prstGeom prst="roundRect">
            <a:avLst>
              <a:gd name="adj" fmla="val 19444"/>
            </a:avLst>
          </a:prstGeom>
          <a:solidFill>
            <a:srgbClr val="CA6F1E">
              <a:alpha val="25000"/>
            </a:srgbClr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33172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03  Retrospective Analysis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94576" y="2331720"/>
            <a:ext cx="2029968" cy="329184"/>
          </a:xfrm>
          <a:prstGeom prst="roundRect">
            <a:avLst>
              <a:gd name="adj" fmla="val 19444"/>
            </a:avLst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94576" y="233172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04  Team Dynamics &amp; Coaching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07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</a:rPr>
              <a:t>Velocity grew 28% across 4 sprints — Sprint 5 target: 34 SP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10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</a:rPr>
              <a:t>Scope creep in Sprint 3 created a cascading 2-sprint ripple — root cause traced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7764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124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</a:rPr>
              <a:t>QA exploratory gap is the #1 risk for Sprint 5's AI feature workstreams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1788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</a:rPr>
              <a:t>Payment Integration undervalued in backlog — recommended priority elevation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7A"/>
                </a:solidFill>
              </a:rPr>
              <a:t>Team: 6 members  ·  485 hrs/sprint  ·  Sprints 1–4 analyzed  ·  10 features prioritized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SPRINT HEALTH OVERVIEW  ·  SPRINT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3D"/>
                </a:solidFill>
              </a:rPr>
              <a:t>Sprint Performance: What the Data Actually Shows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5A6A7E"/>
                </a:solidFill>
              </a:rPr>
              <a:t>Sprint Analysis of velocity, completion, and sentiment trends — and what drives them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4206240" cy="274320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143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Process discovery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4904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A8"/>
                </a:solidFill>
              </a:rPr>
              <a:t>25 SP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Velocity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856232" y="14904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A8"/>
                </a:solidFill>
              </a:rPr>
              <a:t>85%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56232" y="185623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Completion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9544" y="14904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5EA8"/>
                </a:solidFill>
              </a:rPr>
              <a:t>0.65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09544" y="185623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Sentiment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3931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1226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2A3A4A"/>
                </a:solidFill>
              </a:rPr>
              <a:t>Stand-up discipline was the first friction point. Workload skewed toward backend early. Sentiment neutral — team finding rhythm.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114300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1143000"/>
            <a:ext cx="4206240" cy="2743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143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1143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Process refinement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4904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7A75"/>
                </a:solidFill>
              </a:rPr>
              <a:t>30 SP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92040" y="185623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Velocity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45352" y="14904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7A75"/>
                </a:solidFill>
              </a:rPr>
              <a:t>90%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245352" y="185623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Completion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598664" y="149047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7A75"/>
                </a:solidFill>
              </a:rPr>
              <a:t>0.45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98664" y="185623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Sentiment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846320" y="2057400"/>
            <a:ext cx="3931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11226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2A3A4A"/>
                </a:solidFill>
              </a:rPr>
              <a:t>Best velocity gain (+5 SP) but customer feedback was delayed (0.4). Acceptance criteria gaps created hidden rework debt.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017520"/>
            <a:ext cx="4206240" cy="274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51460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Scope crisis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33649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</a:rPr>
              <a:t>28 SP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02920" y="373075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Velocity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856232" y="33649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</a:rPr>
              <a:t>80%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856232" y="373075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Completion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09544" y="33649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</a:rPr>
              <a:t>0.3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209544" y="373075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Sentiment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931920"/>
            <a:ext cx="3931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98678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2A3A4A"/>
                </a:solidFill>
              </a:rPr>
              <a:t>Worst sprint. Scope crept in mid-sprint, overloaded developers, and caused a 10pp completion drop. Lowest sentiment (0.3) — team was stretched thin.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09160" y="30175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017520"/>
            <a:ext cx="420624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Sprint 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03720" y="30175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FFFFF"/>
                </a:solidFill>
              </a:rPr>
              <a:t>Recovery &amp; tooling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92040" y="33649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</a:rPr>
              <a:t>32 SP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892040" y="373075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Velocity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45352" y="33649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</a:rPr>
              <a:t>95%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6245352" y="373075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Completion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598664" y="3364992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7A4A"/>
                </a:solidFill>
              </a:rPr>
              <a:t>0.75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7598664" y="3730752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A7E"/>
                </a:solidFill>
              </a:rPr>
              <a:t>Sentiment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46320" y="3931920"/>
            <a:ext cx="3931920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3986784"/>
            <a:ext cx="3931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2A3A4A"/>
                </a:solidFill>
              </a:rPr>
              <a:t>Best sprint overall. Team recovered with new tooling (0.9 sentiment), highest completion (95%), highest velocity (32 SP). Customer feedback loop repaired.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4736591"/>
            <a:ext cx="8503920" cy="297179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74573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0D9488"/>
                </a:solidFill>
              </a:rPr>
              <a:t>Key finding: Sprint 3's scope creep was not random — it was the downstream consequence of delayed feedback (S2) and under-specified acceptance criteria (S2). These are linked root causes, not isolated incidents.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DELIVERABLE 01  ·  AI-PRIORITIZED BACKLOG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3D"/>
                </a:solidFill>
              </a:rPr>
              <a:t>AI-Prioritized Product Backlog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804672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5A6A7E"/>
                </a:solidFill>
              </a:rPr>
              <a:t>Ranked by customer segment value, market trend momentum, and strategic differentiation — not just the raw priority score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8503920" cy="25603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39" y="1106424"/>
            <a:ext cx="53808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Priority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" y="1106424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93008" y="1106424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Persona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66944" y="110642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Market Signal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223760" y="1106424"/>
            <a:ext cx="1600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Reasoning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1362456"/>
            <a:ext cx="8503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" y="1431036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43103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P5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4672" y="136245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F3D"/>
                </a:solidFill>
              </a:rPr>
              <a:t>AI-Powered Product Recommendations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93008" y="1362456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Tech-Savvy Professionals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66944" y="1362456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Personalization is the #1 e-commerce conversion driver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23760" y="1362456"/>
            <a:ext cx="166420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Highest LTV segment; personalization directly lifts revenue. No competitor parity without this.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0040" y="1700784"/>
            <a:ext cx="8503920" cy="338328"/>
          </a:xfrm>
          <a:prstGeom prst="rect">
            <a:avLst/>
          </a:prstGeom>
          <a:solidFill>
            <a:srgbClr val="FAFBF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" y="1769364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" y="176936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P5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" y="1700784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F3D"/>
                </a:solidFill>
              </a:rPr>
              <a:t>AI-Driven Chat Support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93008" y="1700784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Support-Oriented Buyers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66944" y="1700784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Instant support is a retention multiplier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223760" y="1700784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AI chat scales infinitely; reduces churn from poor support. High ROI vs headcount cost.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" y="2039112"/>
            <a:ext cx="8503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" y="2107692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" y="210769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P5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4672" y="2039112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F1F3D"/>
                </a:solidFill>
              </a:rPr>
              <a:t>Multi-Language Support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93008" y="2039112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Global Shoppers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66944" y="2039112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Cross-border e-commerce growing 25%+ YoY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23760" y="2107692"/>
            <a:ext cx="16002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Force multiplier — one feature unlocks multiple markets. TAM expansion outweighs </a:t>
            </a:r>
            <a:r>
              <a:rPr lang="en-US" sz="750" dirty="0">
                <a:solidFill>
                  <a:srgbClr val="1A2A3A"/>
                </a:solidFill>
              </a:rPr>
              <a:t>implementation cost.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0040" y="2377440"/>
            <a:ext cx="8503920" cy="338328"/>
          </a:xfrm>
          <a:prstGeom prst="rect">
            <a:avLst/>
          </a:prstGeom>
          <a:solidFill>
            <a:srgbClr val="FAFBF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904" y="244602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24460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6F1E"/>
                </a:solidFill>
              </a:rPr>
              <a:t>P4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04672" y="237744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</a:rPr>
              <a:t>Seamless Payment Integration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493008" y="2377440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Mobile-Only Users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266944" y="2377440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Cart abandonment at checkout is #1 mobile revenue leak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223760" y="2377440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I'd elevate this. Friction at payment directly kills revenue. Mobile-only users have zero tolerance.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20040" y="2715768"/>
            <a:ext cx="8503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2784348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" y="27843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6F1E"/>
                </a:solidFill>
              </a:rPr>
              <a:t>P4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" y="2715768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</a:rPr>
              <a:t>Real-Time Order Tracking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93008" y="2715768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Budget-Conscious Shoppers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66944" y="2715768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Post-purchase anxiety drives return rates and churn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23760" y="2715768"/>
            <a:ext cx="1554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Transparency after purchase is a retention lever, not just UX polish. Reduces support ticket volume.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20040" y="3054096"/>
            <a:ext cx="8503920" cy="338328"/>
          </a:xfrm>
          <a:prstGeom prst="rect">
            <a:avLst/>
          </a:prstGeom>
          <a:solidFill>
            <a:srgbClr val="FAFBF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" y="3122676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" y="3122676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6F1E"/>
                </a:solidFill>
              </a:rPr>
              <a:t>P4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04672" y="3054096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</a:rPr>
              <a:t>Voice-Activated Search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493008" y="3054096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Busy Parents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266944" y="3054096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Voice assistant adoption growing but still maturing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223760" y="3054096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Strong trend but adoption curve is slower than AI/payment. Sprint 6 timing is right.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20040" y="3392424"/>
            <a:ext cx="8503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4904" y="3461004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" y="3461004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6F1E"/>
                </a:solidFill>
              </a:rPr>
              <a:t>P4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04672" y="3392424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</a:rPr>
              <a:t>Push Notifications for Deals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493008" y="3392424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Deal Hunters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266944" y="3392424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Real-time offers drive impulse conversion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223760" y="3392424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High engagement potential but opt-out fatigue risk. Needs personalization (rec engine) to </a:t>
            </a:r>
            <a:r>
              <a:rPr lang="en-US" sz="750" dirty="0">
                <a:solidFill>
                  <a:srgbClr val="1A2A3A"/>
                </a:solidFill>
              </a:rPr>
              <a:t>succeed.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20040" y="3730752"/>
            <a:ext cx="8503920" cy="338328"/>
          </a:xfrm>
          <a:prstGeom prst="rect">
            <a:avLst/>
          </a:prstGeom>
          <a:solidFill>
            <a:srgbClr val="FAFBF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74904" y="3799332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E9F7E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" y="37993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P3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04672" y="3730752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</a:rPr>
              <a:t>Personalized Discounts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3493008" y="3730752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Frequent Travelers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66944" y="3730752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Dynamic pricing preferred but complex to implement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223760" y="3730752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Requires pricing engine infrastructure not yet in place. Seasonal segment limits year-round ROI.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20040" y="4069080"/>
            <a:ext cx="85039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74904" y="413766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E9F7E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" y="41376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P3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04672" y="4069080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</a:rPr>
              <a:t>Augmented Reality Product Previews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3493008" y="4069080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Fashion Enthusiasts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266944" y="4069080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Immersive shopping emerging but device-limited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223760" y="4069080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Niche segment today; device compatibility limits reach. High build cost for current adoption rate.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20040" y="4407408"/>
            <a:ext cx="8503920" cy="338328"/>
          </a:xfrm>
          <a:prstGeom prst="rect">
            <a:avLst/>
          </a:prstGeom>
          <a:solidFill>
            <a:srgbClr val="FAFBFD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74904" y="4475988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E9F7E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" y="447598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7A4A"/>
                </a:solidFill>
              </a:rPr>
              <a:t>P3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04672" y="4407408"/>
            <a:ext cx="26334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F3D"/>
                </a:solidFill>
              </a:rPr>
              <a:t>Wishlist Sync Across Devices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3493008" y="4407408"/>
            <a:ext cx="171907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Multi-Device Users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266944" y="4407408"/>
            <a:ext cx="190195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A7E"/>
                </a:solidFill>
              </a:rPr>
              <a:t>Sync convenience expected but rarely a buying trigger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223760" y="4407408"/>
            <a:ext cx="1600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A2A3A"/>
                </a:solidFill>
              </a:rPr>
              <a:t>Table-stakes hygiene feature. Low competitive differentiation. Build after revenue-driving P4s.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DELIVERABLE 01  ·  AI INSIGHTS &amp; TEAM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3D"/>
                </a:solidFill>
              </a:rPr>
              <a:t>Where AI Analysis Diverges from Team Prioritization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64008" cy="181051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51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6F1E"/>
                </a:solidFill>
              </a:rPr>
              <a:t>Payment Integration deserves elevation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289305"/>
            <a:ext cx="3762404" cy="74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E2A3A"/>
                </a:solidFill>
              </a:rPr>
              <a:t>The raw data lists Seamless Payment Integration as P4 alongside Voice Search and Order Tracking. AI analysis separates it: mobile cart abandonment at the payment step is the single highest-revenue-impact friction point in e-commerce. Mobile-Only Users represent a fast-growing segment with zero tolerance for friction. This feature should be built first within the P4 tier.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60120"/>
            <a:ext cx="64008" cy="1810512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051560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A8"/>
                </a:solidFill>
              </a:rPr>
              <a:t>Push Notifications has a hidden dependency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289305"/>
            <a:ext cx="3886200" cy="746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E2A3A"/>
                </a:solidFill>
              </a:rPr>
              <a:t>Push Notifications for Deals is rated P4, but sending generic deal notifications without personalization data risks opt-out fatigue. It is most effective after the AI Recommendation engine (P5) is live — the notification content should be recommendation-driven. I recommend sequencing Push Notifications after the AI layer is in place (Sprint 6, not simultaneously with Sprint 5).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9290" y="2889504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98648"/>
            <a:ext cx="64008" cy="18105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299008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AR Product Previews is riskier than P3 suggests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3319272"/>
            <a:ext cx="3886200" cy="675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E2A3A"/>
                </a:solidFill>
              </a:rPr>
              <a:t>Device compatibility constraints (AR requires ARKit/ARCore-capable hardware) limits the addressable audience to roughly 45–55% of mobile users today. Fashion Enthusiasts are a high-value but niche segment. The tech debt and QA complexity of AR features is disproportionate to current reach. I recommend Sprint 8+ with a re-evaluation at Sprint 6 based on device adoption data.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898648"/>
            <a:ext cx="420624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898648"/>
            <a:ext cx="64008" cy="181051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99008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7A75"/>
                </a:solidFill>
              </a:rPr>
              <a:t>Multi-Language is the highest-leverage P5 feature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3319272"/>
            <a:ext cx="3886200" cy="675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E2A3A"/>
                </a:solidFill>
              </a:rPr>
              <a:t>Of the three P5 features, Multi-Language Support is the only one that expands total addressable market rather than deepening penetration with existing users. One implementation unlocks multiple new geographic segments simultaneously. Cross-border e-commerce is growing 25%+ YoY. This should be prioritized alongside AI Recommendations, not treated as equal to AI Chat in implementation sequence.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4791456"/>
            <a:ext cx="8503920" cy="219456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i="1" dirty="0">
                <a:solidFill>
                  <a:srgbClr val="1E3A5F"/>
                </a:solidFill>
              </a:rPr>
              <a:t>The team prioritized UI/UX enhancements above several AI features. AI features have 3–5× higher market differentiation impact for this product category at this stage of the roadmap.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5511"/>
            <a:ext cx="9144000" cy="9184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9460" y="126749"/>
            <a:ext cx="6853102" cy="213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241" dirty="0">
                <a:solidFill>
                  <a:srgbClr val="14B8A6"/>
                </a:solidFill>
              </a:rPr>
              <a:t>DELIVERABLE 2  ·  SPRINT PLANNING  ·  SPRINT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9460" y="369286"/>
            <a:ext cx="5951764" cy="3894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2A4A"/>
                </a:solidFill>
              </a:rPr>
              <a:t>Sprint 1 Plan — Foundation &amp; Architecture</a:t>
            </a:r>
            <a:endParaRPr lang="en-US" sz="24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1BEF9B-2C5B-3E95-DBB2-626D5DD454B9}"/>
              </a:ext>
            </a:extLst>
          </p:cNvPr>
          <p:cNvGrpSpPr/>
          <p:nvPr/>
        </p:nvGrpSpPr>
        <p:grpSpPr>
          <a:xfrm>
            <a:off x="359473" y="1209406"/>
            <a:ext cx="3989890" cy="1763486"/>
            <a:chOff x="1191986" y="1386908"/>
            <a:chExt cx="3306536" cy="1763486"/>
          </a:xfrm>
        </p:grpSpPr>
        <p:sp>
          <p:nvSpPr>
            <p:cNvPr id="8" name="Shape 6"/>
            <p:cNvSpPr/>
            <p:nvPr/>
          </p:nvSpPr>
          <p:spPr>
            <a:xfrm>
              <a:off x="1191986" y="1386908"/>
              <a:ext cx="3306536" cy="176348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1191986" y="1386908"/>
              <a:ext cx="3306536" cy="220436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1265464" y="1401604"/>
              <a:ext cx="3159579" cy="1910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 dirty="0">
                  <a:solidFill>
                    <a:srgbClr val="FFFFFF"/>
                  </a:solidFill>
                </a:rPr>
                <a:t>Sprint 1 Objectives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324247" y="1717561"/>
              <a:ext cx="73479" cy="73479"/>
            </a:xfrm>
            <a:prstGeom prst="lin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1449161" y="1680822"/>
              <a:ext cx="2939143" cy="2792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1E293B"/>
                  </a:solidFill>
                </a:rPr>
                <a:t>Implement foundational architecture for the recommendation engine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324247" y="2033519"/>
              <a:ext cx="73479" cy="73479"/>
            </a:xfrm>
            <a:prstGeom prst="lin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449161" y="1996780"/>
              <a:ext cx="2939143" cy="2792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1E293B"/>
                  </a:solidFill>
                </a:rPr>
                <a:t>Begin voice-activated search integration (backend setup)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324247" y="2349477"/>
              <a:ext cx="73479" cy="73479"/>
            </a:xfrm>
            <a:prstGeom prst="lin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1449161" y="2312738"/>
              <a:ext cx="2939143" cy="2792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1E293B"/>
                  </a:solidFill>
                </a:rPr>
                <a:t>Set up API framework and data pipeline infrastructure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324247" y="2665435"/>
              <a:ext cx="73479" cy="73479"/>
            </a:xfrm>
            <a:prstGeom prst="line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1449161" y="2628696"/>
              <a:ext cx="2939143" cy="2792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1E293B"/>
                  </a:solidFill>
                </a:rPr>
                <a:t>QA environment configuration and test suite scaffolding</a:t>
              </a:r>
              <a:endParaRPr lang="en-US" sz="9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821886C-0203-9225-3206-A9BE1D6A157D}"/>
              </a:ext>
            </a:extLst>
          </p:cNvPr>
          <p:cNvGrpSpPr/>
          <p:nvPr/>
        </p:nvGrpSpPr>
        <p:grpSpPr>
          <a:xfrm>
            <a:off x="4571999" y="1186841"/>
            <a:ext cx="4212527" cy="1763486"/>
            <a:chOff x="4645478" y="1386908"/>
            <a:chExt cx="3306536" cy="1763486"/>
          </a:xfrm>
        </p:grpSpPr>
        <p:sp>
          <p:nvSpPr>
            <p:cNvPr id="19" name="Shape 17"/>
            <p:cNvSpPr/>
            <p:nvPr/>
          </p:nvSpPr>
          <p:spPr>
            <a:xfrm>
              <a:off x="4645478" y="1386908"/>
              <a:ext cx="3306536" cy="176348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4645478" y="1386908"/>
              <a:ext cx="3306536" cy="220436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718957" y="1401604"/>
              <a:ext cx="3159579" cy="1910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 dirty="0">
                  <a:solidFill>
                    <a:srgbClr val="FFFFFF"/>
                  </a:solidFill>
                </a:rPr>
                <a:t>Resource Allocation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718957" y="1695518"/>
              <a:ext cx="1616529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723" b="1" dirty="0">
                  <a:solidFill>
                    <a:srgbClr val="1B2A4A"/>
                  </a:solidFill>
                </a:rPr>
                <a:t>Backend Dev (201)</a:t>
              </a:r>
              <a:endParaRPr lang="en-US" sz="723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718957" y="1827780"/>
              <a:ext cx="2571750" cy="1322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dirty="0">
                  <a:solidFill>
                    <a:srgbClr val="64748B"/>
                  </a:solidFill>
                </a:rPr>
                <a:t>Recommendation engine architecture</a:t>
              </a:r>
              <a:endParaRPr lang="en-US" sz="8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364186" y="1724910"/>
              <a:ext cx="440871" cy="146957"/>
            </a:xfrm>
            <a:prstGeom prst="roundRect">
              <a:avLst>
                <a:gd name="adj" fmla="val 20000"/>
              </a:avLst>
            </a:prstGeom>
            <a:solidFill>
              <a:srgbClr val="CCFBF1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364186" y="1724910"/>
              <a:ext cx="440871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00" b="1" dirty="0">
                  <a:solidFill>
                    <a:srgbClr val="0D9488"/>
                  </a:solidFill>
                </a:rPr>
                <a:t>80h</a:t>
              </a:r>
              <a:endParaRPr lang="en-US" sz="8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718957" y="2035163"/>
              <a:ext cx="1616529" cy="11756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b="1" dirty="0">
                  <a:solidFill>
                    <a:srgbClr val="1B2A4A"/>
                  </a:solidFill>
                </a:rPr>
                <a:t>Frontend Dev (202)</a:t>
              </a:r>
              <a:endParaRPr lang="en-US" sz="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718957" y="2167425"/>
              <a:ext cx="2571750" cy="1322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dirty="0">
                  <a:solidFill>
                    <a:srgbClr val="64748B"/>
                  </a:solidFill>
                </a:rPr>
                <a:t>Initial UI scaffolding for rec. display</a:t>
              </a:r>
              <a:endParaRPr lang="en-US" sz="8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364186" y="2040867"/>
              <a:ext cx="440871" cy="146957"/>
            </a:xfrm>
            <a:prstGeom prst="roundRect">
              <a:avLst>
                <a:gd name="adj" fmla="val 20000"/>
              </a:avLst>
            </a:prstGeom>
            <a:solidFill>
              <a:srgbClr val="CCFBF1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364186" y="2040867"/>
              <a:ext cx="440871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00" b="1" dirty="0">
                  <a:solidFill>
                    <a:srgbClr val="0D9488"/>
                  </a:solidFill>
                </a:rPr>
                <a:t>40h</a:t>
              </a:r>
              <a:endParaRPr lang="en-US" sz="8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718957" y="2327434"/>
              <a:ext cx="1616529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b="1" dirty="0">
                  <a:solidFill>
                    <a:srgbClr val="1B2A4A"/>
                  </a:solidFill>
                </a:rPr>
                <a:t>QA Engineer (203)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718957" y="2459695"/>
              <a:ext cx="2571750" cy="1322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800" dirty="0">
                  <a:solidFill>
                    <a:srgbClr val="64748B"/>
                  </a:solidFill>
                </a:rPr>
                <a:t>API testing support (AI trade-off realloc.)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364186" y="2356825"/>
              <a:ext cx="440871" cy="146957"/>
            </a:xfrm>
            <a:prstGeom prst="roundRect">
              <a:avLst>
                <a:gd name="adj" fmla="val 20000"/>
              </a:avLst>
            </a:prstGeom>
            <a:solidFill>
              <a:srgbClr val="CCFBF1"/>
            </a:solidFill>
            <a:ln w="12700">
              <a:solidFill>
                <a:srgbClr val="0D9488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364186" y="2356825"/>
              <a:ext cx="440871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00" b="1" dirty="0">
                  <a:solidFill>
                    <a:srgbClr val="0D9488"/>
                  </a:solidFill>
                </a:rPr>
                <a:t>35h</a:t>
              </a:r>
              <a:endParaRPr lang="en-US" sz="8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718957" y="2643392"/>
              <a:ext cx="1616529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b="1" dirty="0">
                  <a:solidFill>
                    <a:srgbClr val="1B2A4A"/>
                  </a:solidFill>
                </a:rPr>
                <a:t>Scrum Master (204)</a:t>
              </a:r>
              <a:endParaRPr lang="en-US" sz="9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718957" y="2775653"/>
              <a:ext cx="2571750" cy="1322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900" dirty="0">
                  <a:solidFill>
                    <a:srgbClr val="64748B"/>
                  </a:solidFill>
                </a:rPr>
                <a:t>Sprint facilitation &amp; dependency mgmt</a:t>
              </a:r>
              <a:endParaRPr lang="en-US" sz="9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7364186" y="2672783"/>
              <a:ext cx="440871" cy="146957"/>
            </a:xfrm>
            <a:prstGeom prst="roundRect">
              <a:avLst>
                <a:gd name="adj" fmla="val 20000"/>
              </a:avLst>
            </a:prstGeom>
            <a:solidFill>
              <a:srgbClr val="CCFBF1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7364186" y="2672783"/>
              <a:ext cx="440871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00" b="1" dirty="0">
                  <a:solidFill>
                    <a:srgbClr val="0D9488"/>
                  </a:solidFill>
                </a:rPr>
                <a:t>30h</a:t>
              </a:r>
              <a:endParaRPr lang="en-US" sz="80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30FF086-3A0C-D141-FBA0-DB7CFEF4CAF5}"/>
              </a:ext>
            </a:extLst>
          </p:cNvPr>
          <p:cNvGrpSpPr/>
          <p:nvPr/>
        </p:nvGrpSpPr>
        <p:grpSpPr>
          <a:xfrm>
            <a:off x="359473" y="3283123"/>
            <a:ext cx="8425053" cy="800395"/>
            <a:chOff x="1191986" y="3260612"/>
            <a:chExt cx="6760029" cy="808265"/>
          </a:xfrm>
        </p:grpSpPr>
        <p:sp>
          <p:nvSpPr>
            <p:cNvPr id="38" name="Shape 36"/>
            <p:cNvSpPr/>
            <p:nvPr/>
          </p:nvSpPr>
          <p:spPr>
            <a:xfrm>
              <a:off x="1191986" y="3260613"/>
              <a:ext cx="6760029" cy="808264"/>
            </a:xfrm>
            <a:prstGeom prst="rect">
              <a:avLst/>
            </a:prstGeom>
            <a:solidFill>
              <a:srgbClr val="FFF8F0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9" name="Shape 37"/>
            <p:cNvSpPr/>
            <p:nvPr/>
          </p:nvSpPr>
          <p:spPr>
            <a:xfrm>
              <a:off x="1191986" y="3260612"/>
              <a:ext cx="58783" cy="808264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1338943" y="3312047"/>
              <a:ext cx="2939143" cy="16165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 dirty="0">
                  <a:solidFill>
                    <a:srgbClr val="D97706"/>
                  </a:solidFill>
                </a:rPr>
                <a:t>AI Trade-Off Simulation</a:t>
              </a:r>
              <a:endParaRPr lang="en-US" sz="11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1338942" y="3538945"/>
              <a:ext cx="6613071" cy="16165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dirty="0">
                  <a:solidFill>
                    <a:srgbClr val="1E293B"/>
                  </a:solidFill>
                </a:rPr>
                <a:t>Decision: Reallocated 1 QA Specialist from standard testing cycle to Backend API acceleration in Sprint 1.</a:t>
              </a:r>
              <a:endParaRPr lang="en-US" sz="9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1338943" y="3664743"/>
              <a:ext cx="6613071" cy="32748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dirty="0">
                  <a:solidFill>
                    <a:srgbClr val="64748B"/>
                  </a:solidFill>
                </a:rPr>
                <a:t>Rationale: Voice search API setup is on the critical path for Sprint 2 frontend work. Early QA involvement reduces rework risk by ~35% (AI estimate).</a:t>
              </a:r>
              <a:endParaRPr lang="en-US" sz="9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B1F2A4C-35C2-5982-E490-B77EC088FEA3}"/>
              </a:ext>
            </a:extLst>
          </p:cNvPr>
          <p:cNvGrpSpPr/>
          <p:nvPr/>
        </p:nvGrpSpPr>
        <p:grpSpPr>
          <a:xfrm>
            <a:off x="359475" y="4351713"/>
            <a:ext cx="6760029" cy="422501"/>
            <a:chOff x="1191986" y="4142355"/>
            <a:chExt cx="6760029" cy="422501"/>
          </a:xfrm>
        </p:grpSpPr>
        <p:sp>
          <p:nvSpPr>
            <p:cNvPr id="43" name="Shape 41"/>
            <p:cNvSpPr/>
            <p:nvPr/>
          </p:nvSpPr>
          <p:spPr>
            <a:xfrm>
              <a:off x="1191986" y="4142355"/>
              <a:ext cx="6760029" cy="40413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4" name="Text 42"/>
            <p:cNvSpPr/>
            <p:nvPr/>
          </p:nvSpPr>
          <p:spPr>
            <a:xfrm>
              <a:off x="1338943" y="4201137"/>
              <a:ext cx="1322614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b="1" dirty="0">
                  <a:solidFill>
                    <a:srgbClr val="1B2A4A"/>
                  </a:solidFill>
                </a:rPr>
                <a:t>Key Dependencies:</a:t>
              </a:r>
              <a:endParaRPr lang="en-US" sz="9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2661557" y="4142355"/>
              <a:ext cx="5143500" cy="42250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800" dirty="0">
                  <a:solidFill>
                    <a:srgbClr val="64748B"/>
                  </a:solidFill>
                </a:rPr>
                <a:t>Backend team: API setup required before voice search frontend work can begin.</a:t>
              </a:r>
            </a:p>
            <a:p>
              <a:pPr algn="just"/>
              <a:r>
                <a:rPr lang="en-US" sz="800" dirty="0">
                  <a:solidFill>
                    <a:srgbClr val="64748B"/>
                  </a:solidFill>
                </a:rPr>
                <a:t>Frontend team: Recommendation engine integration required before UI enhancements.</a:t>
              </a:r>
            </a:p>
            <a:p>
              <a:pPr algn="just"/>
              <a:r>
                <a:rPr lang="en-US" sz="800" dirty="0">
                  <a:solidFill>
                    <a:srgbClr val="64748B"/>
                  </a:solidFill>
                </a:rPr>
                <a:t>QA: Test environment before feature testing.</a:t>
              </a:r>
              <a:endParaRPr lang="en-US" sz="800" dirty="0"/>
            </a:p>
          </p:txBody>
        </p:sp>
      </p:grpSp>
      <p:sp>
        <p:nvSpPr>
          <p:cNvPr id="58" name="Text 5">
            <a:extLst>
              <a:ext uri="{FF2B5EF4-FFF2-40B4-BE49-F238E27FC236}">
                <a16:creationId xmlns:a16="http://schemas.microsoft.com/office/drawing/2014/main" id="{8BDE8DBE-B9D1-B871-36FD-D855ED044D47}"/>
              </a:ext>
            </a:extLst>
          </p:cNvPr>
          <p:cNvSpPr/>
          <p:nvPr/>
        </p:nvSpPr>
        <p:spPr>
          <a:xfrm>
            <a:off x="213975" y="853362"/>
            <a:ext cx="6760029" cy="161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000" dirty="0">
                <a:solidFill>
                  <a:srgbClr val="64748B"/>
                </a:solidFill>
              </a:rPr>
              <a:t>Velocity target: 25 SP  ·  Focus: Recommendation Engine Foundation + Voice Search Backend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3502"/>
            <a:ext cx="9144000" cy="784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3975" y="104707"/>
            <a:ext cx="6760029" cy="1836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b="1" kern="0" spc="241" dirty="0">
                <a:solidFill>
                  <a:srgbClr val="14B8A6"/>
                </a:solidFill>
              </a:rPr>
              <a:t>DELIVERABLE 2  ·  SPRINT PLANNING  ·  SPRINT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3285" y="387599"/>
            <a:ext cx="5951764" cy="382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2A4A"/>
                </a:solidFill>
              </a:rPr>
              <a:t>Sprint 2 Plan — Development &amp; Integration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13975" y="853362"/>
            <a:ext cx="6760029" cy="1616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000" dirty="0">
                <a:solidFill>
                  <a:srgbClr val="64748B"/>
                </a:solidFill>
              </a:rPr>
              <a:t>Velocity target: 30 SP  ·  Focus: Recommendation Engine Delivery + Voice Search Completion</a:t>
            </a:r>
            <a:endParaRPr lang="en-US" sz="10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5ED78BC-AB41-B257-2B35-C690AA84AEDC}"/>
              </a:ext>
            </a:extLst>
          </p:cNvPr>
          <p:cNvGrpSpPr/>
          <p:nvPr/>
        </p:nvGrpSpPr>
        <p:grpSpPr>
          <a:xfrm>
            <a:off x="287453" y="1313429"/>
            <a:ext cx="4046008" cy="1763486"/>
            <a:chOff x="1191986" y="1386908"/>
            <a:chExt cx="3306536" cy="1763486"/>
          </a:xfrm>
        </p:grpSpPr>
        <p:sp>
          <p:nvSpPr>
            <p:cNvPr id="8" name="Shape 6"/>
            <p:cNvSpPr/>
            <p:nvPr/>
          </p:nvSpPr>
          <p:spPr>
            <a:xfrm>
              <a:off x="1191986" y="1386908"/>
              <a:ext cx="3306536" cy="176348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9" name="Shape 7"/>
            <p:cNvSpPr/>
            <p:nvPr/>
          </p:nvSpPr>
          <p:spPr>
            <a:xfrm>
              <a:off x="1191986" y="1386908"/>
              <a:ext cx="3306536" cy="220436"/>
            </a:xfrm>
            <a:prstGeom prst="rect">
              <a:avLst/>
            </a:prstGeom>
            <a:solidFill>
              <a:srgbClr val="1B2A4A"/>
            </a:solidFill>
            <a:ln w="12700">
              <a:solidFill>
                <a:srgbClr val="1B2A4A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1265464" y="1401604"/>
              <a:ext cx="3159579" cy="1910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 dirty="0">
                  <a:solidFill>
                    <a:srgbClr val="FFFFFF"/>
                  </a:solidFill>
                </a:rPr>
                <a:t>Sprint 2 Objectives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1324247" y="1717561"/>
              <a:ext cx="73479" cy="73479"/>
            </a:xfrm>
            <a:prstGeom prst="lin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1449161" y="1680822"/>
              <a:ext cx="2939143" cy="2792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dirty="0">
                  <a:solidFill>
                    <a:srgbClr val="1E293B"/>
                  </a:solidFill>
                </a:rPr>
                <a:t>Develop and test the full recommendation engine (ML model + API)</a:t>
              </a:r>
              <a:endParaRPr lang="en-US" sz="9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1324247" y="2033519"/>
              <a:ext cx="73479" cy="73479"/>
            </a:xfrm>
            <a:prstGeom prst="lin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4" name="Text 12"/>
            <p:cNvSpPr/>
            <p:nvPr/>
          </p:nvSpPr>
          <p:spPr>
            <a:xfrm>
              <a:off x="1449161" y="1996780"/>
              <a:ext cx="2939143" cy="2792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dirty="0">
                  <a:solidFill>
                    <a:srgbClr val="1E293B"/>
                  </a:solidFill>
                </a:rPr>
                <a:t>Complete backend setup for voice-activated search</a:t>
              </a:r>
              <a:endParaRPr lang="en-US" sz="9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1324247" y="2349477"/>
              <a:ext cx="73479" cy="73479"/>
            </a:xfrm>
            <a:prstGeom prst="lin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1449161" y="2312738"/>
              <a:ext cx="2939143" cy="2792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dirty="0">
                  <a:solidFill>
                    <a:srgbClr val="1E293B"/>
                  </a:solidFill>
                </a:rPr>
                <a:t>Frontend integration of recommendations into product pages</a:t>
              </a:r>
              <a:endParaRPr lang="en-US" sz="9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324247" y="2665435"/>
              <a:ext cx="73479" cy="73479"/>
            </a:xfrm>
            <a:prstGeom prst="line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1449161" y="2628696"/>
              <a:ext cx="2939143" cy="2792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dirty="0">
                  <a:solidFill>
                    <a:srgbClr val="1E293B"/>
                  </a:solidFill>
                </a:rPr>
                <a:t>Regression testing and performance benchmarking</a:t>
              </a:r>
              <a:endParaRPr lang="en-US" sz="90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E42BDFB-9CF5-DA9A-10C1-C66390F72415}"/>
              </a:ext>
            </a:extLst>
          </p:cNvPr>
          <p:cNvGrpSpPr/>
          <p:nvPr/>
        </p:nvGrpSpPr>
        <p:grpSpPr>
          <a:xfrm>
            <a:off x="4645477" y="1320777"/>
            <a:ext cx="4211069" cy="1763486"/>
            <a:chOff x="4645478" y="1386908"/>
            <a:chExt cx="3306536" cy="1763486"/>
          </a:xfrm>
        </p:grpSpPr>
        <p:sp>
          <p:nvSpPr>
            <p:cNvPr id="19" name="Shape 17"/>
            <p:cNvSpPr/>
            <p:nvPr/>
          </p:nvSpPr>
          <p:spPr>
            <a:xfrm>
              <a:off x="4645478" y="1386908"/>
              <a:ext cx="3306536" cy="176348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0" name="Shape 18"/>
            <p:cNvSpPr/>
            <p:nvPr/>
          </p:nvSpPr>
          <p:spPr>
            <a:xfrm>
              <a:off x="4645478" y="1386908"/>
              <a:ext cx="3306536" cy="220436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718957" y="1401604"/>
              <a:ext cx="3159579" cy="1910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b="1" dirty="0">
                  <a:solidFill>
                    <a:srgbClr val="FFFFFF"/>
                  </a:solidFill>
                </a:rPr>
                <a:t>Resource Allocation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718957" y="1695518"/>
              <a:ext cx="1616529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b="1" dirty="0">
                  <a:solidFill>
                    <a:srgbClr val="1B2A4A"/>
                  </a:solidFill>
                </a:rPr>
                <a:t>Backend Dev (201)</a:t>
              </a:r>
              <a:endParaRPr lang="en-US" sz="9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718957" y="1827780"/>
              <a:ext cx="2571750" cy="1322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800" dirty="0">
                  <a:solidFill>
                    <a:srgbClr val="64748B"/>
                  </a:solidFill>
                </a:rPr>
                <a:t>Recommendation ML model training &amp; API</a:t>
              </a:r>
              <a:endParaRPr lang="en-US" sz="8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7364186" y="1724910"/>
              <a:ext cx="440871" cy="146957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7364186" y="1724910"/>
              <a:ext cx="440871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00" b="1" dirty="0">
                  <a:solidFill>
                    <a:srgbClr val="2563EB"/>
                  </a:solidFill>
                </a:rPr>
                <a:t>80h</a:t>
              </a:r>
              <a:endParaRPr lang="en-US" sz="8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4718957" y="2011476"/>
              <a:ext cx="1616529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b="1" dirty="0">
                  <a:solidFill>
                    <a:srgbClr val="1B2A4A"/>
                  </a:solidFill>
                </a:rPr>
                <a:t>Frontend Dev (202)</a:t>
              </a:r>
              <a:endParaRPr lang="en-US" sz="9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718957" y="2143738"/>
              <a:ext cx="2571750" cy="1322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800" dirty="0">
                  <a:solidFill>
                    <a:srgbClr val="64748B"/>
                  </a:solidFill>
                </a:rPr>
                <a:t>Rec. engine UI integration + voice UX</a:t>
              </a:r>
              <a:endParaRPr lang="en-US" sz="8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7364186" y="2040867"/>
              <a:ext cx="440871" cy="146957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7364186" y="2040867"/>
              <a:ext cx="440871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00" b="1" dirty="0">
                  <a:solidFill>
                    <a:srgbClr val="2563EB"/>
                  </a:solidFill>
                </a:rPr>
                <a:t>85h</a:t>
              </a:r>
              <a:endParaRPr lang="en-US" sz="8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4718957" y="2327434"/>
              <a:ext cx="1616529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b="1" dirty="0">
                  <a:solidFill>
                    <a:srgbClr val="1B2A4A"/>
                  </a:solidFill>
                </a:rPr>
                <a:t>QA Engineer (203)</a:t>
              </a:r>
              <a:endParaRPr lang="en-US" sz="9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718957" y="2459695"/>
              <a:ext cx="2571750" cy="1322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800" dirty="0">
                  <a:solidFill>
                    <a:srgbClr val="64748B"/>
                  </a:solidFill>
                </a:rPr>
                <a:t>Feature testing + regression suite</a:t>
              </a:r>
              <a:endParaRPr lang="en-US" sz="8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7364186" y="2356825"/>
              <a:ext cx="440871" cy="146957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7364186" y="2356825"/>
              <a:ext cx="440871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00" b="1" dirty="0">
                  <a:solidFill>
                    <a:srgbClr val="2563EB"/>
                  </a:solidFill>
                </a:rPr>
                <a:t>75h</a:t>
              </a:r>
              <a:endParaRPr lang="en-US" sz="80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4718957" y="2643392"/>
              <a:ext cx="1616529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900" b="1" dirty="0">
                  <a:solidFill>
                    <a:srgbClr val="1B2A4A"/>
                  </a:solidFill>
                </a:rPr>
                <a:t>UI/UX Designer (206)</a:t>
              </a:r>
              <a:endParaRPr lang="en-US" sz="9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4718957" y="2775653"/>
              <a:ext cx="2571750" cy="13226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just"/>
              <a:r>
                <a:rPr lang="en-US" sz="800" dirty="0">
                  <a:solidFill>
                    <a:srgbClr val="64748B"/>
                  </a:solidFill>
                </a:rPr>
                <a:t>Voice search interface wireframes</a:t>
              </a:r>
              <a:endParaRPr lang="en-US" sz="8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7364186" y="2672783"/>
              <a:ext cx="440871" cy="146957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 w="12700">
              <a:solidFill>
                <a:srgbClr val="2563EB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7364186" y="2672783"/>
              <a:ext cx="440871" cy="14695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800" b="1" dirty="0">
                  <a:solidFill>
                    <a:srgbClr val="2563EB"/>
                  </a:solidFill>
                </a:rPr>
                <a:t>50h</a:t>
              </a:r>
              <a:endParaRPr lang="en-US" sz="80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DELIVERABLE 02  ·  SPRINT PLANNING  ·  SPRINT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3D"/>
                </a:solidFill>
              </a:rPr>
              <a:t>Sprint 5 Plan — AI Feature Sprint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0F4A45"/>
                </a:solidFill>
              </a:rPr>
              <a:t>Capacity forecast: Velocity slope is +2.33 SP/sprint. Linear projection = 34.3 SP. I recommend committing to 32 SP (conservative buffer) given Sprint 5 introduces AI features with higher unknowns. Never commit 100% of capacity — reserve 10% for scope risk (Sprint 3 lesson).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8503920" cy="25603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Workstream A: AI Product Recommendations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399032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1399032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P5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059168" y="1399032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59168" y="13990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13 SP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" y="166420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A6A7E"/>
                </a:solidFill>
              </a:rPr>
              <a:t>201 Backend Dev — ML model + recommendation API  ·  202 Frontend Dev — Product page UI integration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88366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CA6F1E"/>
                </a:solidFill>
              </a:rPr>
              <a:t>Risk: Medium — ML model accuracy may need iteration after initial training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13969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80" dirty="0">
                <a:solidFill>
                  <a:srgbClr val="2A3A4A"/>
                </a:solidFill>
              </a:rPr>
              <a:t>Dependency: Requires clean user behaviour event data in the data pipeline. Frontend cannot start integration until API contract is signed off ...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20040" y="2578608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78608"/>
            <a:ext cx="8503920" cy="256032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78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Workstream B: AI-Driven Chat Support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260604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606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P5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059168" y="260604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59168" y="26060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 SP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87121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A6A7E"/>
                </a:solidFill>
              </a:rPr>
              <a:t>201 Backend Dev (20% time) — chatbot API integration  ·  203 QA Engineer — conversation flow and edge case testing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3172337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C0392B"/>
                </a:solidFill>
              </a:rPr>
              <a:t>Risk: HIGH — QA Engineer's exploratory testing gap directly impacts this workstream. Mitigation: Scrum Master pairs 203 with senior tester for this sprint only.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" y="34472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80" dirty="0">
                <a:solidFill>
                  <a:srgbClr val="2A3A4A"/>
                </a:solidFill>
              </a:rPr>
              <a:t>Dependency: QA exploratory testing gap (ID 203) is the primary risk for this workstream. Non-deterministic AI outputs cannot be fully covered ...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20040" y="3785616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785616"/>
            <a:ext cx="8503920" cy="25603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85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Workstream C: Multi-Language Support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29400" y="3813048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81304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0392B"/>
                </a:solidFill>
              </a:rPr>
              <a:t>P5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059168" y="3813048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9168" y="381304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9 SP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" y="407822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A6A7E"/>
                </a:solidFill>
              </a:rPr>
              <a:t>202 Frontend Dev — i18n framework implementation  ·  206 UI/UX Designer — locale-specific layout adjustments  ·  205 Product Owner — content approval and market selection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433425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CA6F1E"/>
                </a:solidFill>
              </a:rPr>
              <a:t>Risk: Low-Medium — Well-understood technology; main risk is PO copy approval latency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55371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80" dirty="0">
                <a:solidFill>
                  <a:srgbClr val="2A3A4A"/>
                </a:solidFill>
              </a:rPr>
              <a:t>Dependency: PO (205) must finalize target market list and translation copy by Sprint Day 4. Frontend and UX cannot finalize layouts without knowledge …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DELIVERABLE 02  ·  SPRINT PLANNING  ·  SPRINT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3D"/>
                </a:solidFill>
              </a:rPr>
              <a:t>Sprint 6 Plan — Platform Expansion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384048"/>
          </a:xfrm>
          <a:prstGeom prst="roundRect">
            <a:avLst>
              <a:gd name="adj" fmla="val 14286"/>
            </a:avLst>
          </a:prstGeom>
          <a:solidFill>
            <a:srgbClr val="EBF5FB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B5EA8"/>
                </a:solidFill>
              </a:rPr>
              <a:t>Sprint 6 target: ~34 SP. Payment Integration is sequenced first within this sprint — it has the highest direct revenue impact and the clearest implementation path (well-understood technology). Voice Search and Order Tracking follow.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4206240" cy="25603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" y="132588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13258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6F1E"/>
                </a:solidFill>
              </a:rPr>
              <a:t>P4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2984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Seamless Payment Integration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03320" y="1325880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 SP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" y="1591056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E2A3A"/>
                </a:solidFill>
              </a:rPr>
              <a:t>My top P4 priority. Mobile checkout abandonment is the highest-revenue-impact friction point. Complete before voice search — direct revenue impact vs engagement improvement.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9768" y="2157984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19456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Key tasks: Integrate Stripe/payment gateway SDK  ·  Apple Pay &amp; Google Pay support for mobile-only users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29768" y="2463115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Saved card flow and payment retry logic  ·  PCI-DSS compliance QA checklist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9768" y="277977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A6F1E"/>
                </a:solidFill>
              </a:rPr>
              <a:t>Owners: 201+202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09160" y="1298448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298448"/>
            <a:ext cx="4206240" cy="25603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1325880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13258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6F1E"/>
                </a:solidFill>
              </a:rPr>
              <a:t>P4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12080" y="12984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Real-Time Order 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92440" y="1325880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1325880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 SP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8888" y="1591056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E2A3A"/>
                </a:solidFill>
              </a:rPr>
              <a:t>Post-purchase experience directly affects repeat purchase rates and support ticket volume. Budget-conscious shoppers need reassurance after committing to a purchase.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18888" y="2157984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219456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Key tasks: Webhook integration with shipping carrier APIs  ·  Live tracking UI component with status timeline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18888" y="2496313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Push notification triggers for status changes  ·  Error states for delayed/failed tracking updates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18888" y="2779776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7A75"/>
                </a:solidFill>
              </a:rPr>
              <a:t>Owners: 201+202+203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3145536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145536"/>
            <a:ext cx="4206240" cy="256032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3192" y="3172968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3172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6F1E"/>
                </a:solidFill>
              </a:rPr>
              <a:t>P4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" y="3145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Voice-Activated Search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03320" y="3172968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31729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 SP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9768" y="3438144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E2A3A"/>
                </a:solidFill>
              </a:rPr>
              <a:t>Voice adoption is growing but not yet dominant. Sprint 6 timing allows the recommendation engine (S5) to power voice search results, making the feature immediately more valuable.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29768" y="4005072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404164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Key tasks: Web Speech API integration for voice capture  ·  NLP query parsing and search index connection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29768" y="4342207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Voice UX: visual feedback during listening, error states  ·  Accessibility compliance for non-voice users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29768" y="462686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5EA8"/>
                </a:solidFill>
              </a:rPr>
              <a:t>Owners: 202+206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09160" y="3145536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3145536"/>
            <a:ext cx="420624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82312" y="3172968"/>
            <a:ext cx="365760" cy="201168"/>
          </a:xfrm>
          <a:prstGeom prst="roundRect">
            <a:avLst>
              <a:gd name="adj" fmla="val 22727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82312" y="317296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A6F1E"/>
                </a:solidFill>
              </a:rPr>
              <a:t>P4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12080" y="3145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Push Notifications for Deals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92440" y="3172968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92440" y="317296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 SP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18888" y="3438144"/>
            <a:ext cx="4005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E2A3A"/>
                </a:solidFill>
              </a:rPr>
              <a:t>Intentionally last in Sprint 6. Notifications are most effective when powered by the recommendation engine (built in Sprint 5). Generic notifications create opt-out fatigue.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18888" y="4005072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8888" y="404164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Key tasks: FCM/APNs push notification integration  ·  Preference management UI (opt-in/opt-out/frequency)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818888" y="4313583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Recommendation-driven notification content pipeline  ·  Delivery time optimization based on user activity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18888" y="462686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</a:rPr>
              <a:t>Owners: 202+201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DELIVERABLE 03  ·  RETROSPECTIVE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2608" y="315467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F1F3D"/>
                </a:solidFill>
              </a:rPr>
              <a:t>Retrospective Deep Dive: Patterns, Root Causes &amp; Fixes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92608" y="715517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5A6A7E"/>
                </a:solidFill>
              </a:rPr>
              <a:t>AI analysis looks beneath the symptoms to find the connected root causes driving Sprint 3's collapse and Sprint 4's recovery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97280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C0392B"/>
                </a:solidFill>
              </a:rPr>
              <a:t>Root Cause Chain (AI finding — these are not independent incidents):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298448"/>
            <a:ext cx="8138160" cy="4160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dirty="0">
                <a:solidFill>
                  <a:srgbClr val="5A0A0A"/>
                </a:solidFill>
              </a:rPr>
              <a:t>Sprint 2: Delayed customer feedback (0.4 sentiment) + Unclear AC → Developers built to the wrong specification → Sprint 3: Scope corrections injected mid-sprint → Developer overload → Velocity dropped from 30 to 28 SP, completion fell 10pp, sentiment hit 0.3 (worst reading)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5927" y="1993392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93392"/>
            <a:ext cx="2011680" cy="64008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1" y="2103120"/>
            <a:ext cx="640783" cy="164592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103120"/>
            <a:ext cx="59154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5EA8"/>
                </a:solidFill>
              </a:rPr>
              <a:t>S1 Process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411480" y="233172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0F1F3D"/>
                </a:solidFill>
              </a:rPr>
              <a:t>Stand-ups ran over time regularly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686714" y="2103120"/>
            <a:ext cx="57185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A6F1E"/>
                </a:solidFill>
              </a:rPr>
              <a:t>Sent: 0.6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2706624"/>
            <a:ext cx="1847088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52344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→ 15-min cap + rotating timekeeper. Simple intervention, fast result.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41448" y="1993392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41448" y="1993392"/>
            <a:ext cx="201168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32888" y="2103120"/>
            <a:ext cx="804672" cy="137160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2098548"/>
            <a:ext cx="822960" cy="155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7A75"/>
                </a:solidFill>
              </a:rPr>
              <a:t>S1 Collaboration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532888" y="233172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0F1F3D"/>
                </a:solidFill>
              </a:rPr>
              <a:t>Workload skewed toward backend; frontend underloaded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08122" y="2084832"/>
            <a:ext cx="57185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A6F1E"/>
                </a:solidFill>
              </a:rPr>
              <a:t>Sent: 0.7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32888" y="2706624"/>
            <a:ext cx="1847088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32888" y="2752344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→ Daily burn rate monitoring by SM. Rebalance if any member drifts &gt;20% off forecast.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62856" y="1993392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62856" y="1993392"/>
            <a:ext cx="2011680" cy="64008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7" y="2103120"/>
            <a:ext cx="639377" cy="137160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2103120"/>
            <a:ext cx="639376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5EA8"/>
                </a:solidFill>
              </a:rPr>
              <a:t>S2 Process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654296" y="233172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0F1F3D"/>
                </a:solidFill>
              </a:rPr>
              <a:t>Acceptance criteria incomplete on multiple stories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29530" y="2059359"/>
            <a:ext cx="5718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A6F1E"/>
                </a:solidFill>
              </a:rPr>
              <a:t>Sent: 0.5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54296" y="2706624"/>
            <a:ext cx="1847088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54296" y="2752344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→ PO must attach AC checklist to every story before sprint planning. No AC = story not sprint-eligible.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84264" y="1993392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84264" y="1993392"/>
            <a:ext cx="2011680" cy="6400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57416" y="2103120"/>
            <a:ext cx="1183796" cy="137159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57415" y="2084832"/>
            <a:ext cx="1183795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A6F1E"/>
                </a:solidFill>
              </a:rPr>
              <a:t>S2 Customer Feedback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775704" y="233172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0F1F3D"/>
                </a:solidFill>
              </a:rPr>
              <a:t>Customer input arrived at sprint review — too late to act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050938" y="2050869"/>
            <a:ext cx="5718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0392B"/>
                </a:solidFill>
              </a:rPr>
              <a:t>Sent: 0.4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775704" y="2706624"/>
            <a:ext cx="1847088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75704" y="2752344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→ Customer touchpoint at end of Week 1 every sprint. Mid-sprint pivot window before scope is locked.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3346704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3346704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3192" y="3456431"/>
            <a:ext cx="591546" cy="182881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" y="3438144"/>
            <a:ext cx="6407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C0392B"/>
                </a:solidFill>
              </a:rPr>
              <a:t>S3 Resources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11480" y="368503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0F1F3D"/>
                </a:solidFill>
              </a:rPr>
              <a:t>Scope injected mid-sprint, overloaded developers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686714" y="3456432"/>
            <a:ext cx="57185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0392B"/>
                </a:solidFill>
              </a:rPr>
              <a:t>Sent: 0.3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11480" y="4059936"/>
            <a:ext cx="1847088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10565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→ Scope freeze protocol after kickoff. New work → backlog, not active sprint. No exceptions except P5 production defects.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441448" y="3346704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441448" y="3346704"/>
            <a:ext cx="201168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14600" y="3438144"/>
            <a:ext cx="841248" cy="173736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14600" y="341071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A4A"/>
                </a:solidFill>
              </a:rPr>
              <a:t>S3 Collaboration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2532888" y="368503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0F1F3D"/>
                </a:solidFill>
              </a:rPr>
              <a:t>QA–Dev communication improved despite overload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808122" y="3410712"/>
            <a:ext cx="57185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A7A4A"/>
                </a:solidFill>
              </a:rPr>
              <a:t>Sent: 0.8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532888" y="4059936"/>
            <a:ext cx="1847088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32888" y="410565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→ Formalize the QA–Dev pairing that emerged organically. Schedule 30-min sync daily between ID 203 and 201/202.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562856" y="3346704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562856" y="3346704"/>
            <a:ext cx="201168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36008" y="3438144"/>
            <a:ext cx="639376" cy="201168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36008" y="3438144"/>
            <a:ext cx="639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B7A75"/>
                </a:solidFill>
              </a:rPr>
              <a:t>S4 Tooling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654296" y="368503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0F1F3D"/>
                </a:solidFill>
              </a:rPr>
              <a:t>PM tool caused friction but team adapted quickly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929530" y="3456432"/>
            <a:ext cx="57185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A7A4A"/>
                </a:solidFill>
              </a:rPr>
              <a:t>Sent: 0.9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654296" y="4059936"/>
            <a:ext cx="1847088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54296" y="410565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→ Establish tool office hours (1h/week, SM-led). Knowledge transfers before friction causes delays.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684264" y="3346704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684264" y="3346704"/>
            <a:ext cx="2011680" cy="640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57415" y="3438144"/>
            <a:ext cx="993882" cy="201168"/>
          </a:xfrm>
          <a:prstGeom prst="roundRect">
            <a:avLst>
              <a:gd name="adj" fmla="val 2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57416" y="3438144"/>
            <a:ext cx="99388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A7A4A"/>
                </a:solidFill>
              </a:rPr>
              <a:t>S4 Customer Feedback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775704" y="3685032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0F1F3D"/>
                </a:solidFill>
              </a:rPr>
              <a:t>Feedback loop noticeably improved vs Sprint 2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041794" y="3438144"/>
            <a:ext cx="57185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CA6F1E"/>
                </a:solidFill>
              </a:rPr>
              <a:t>Sent: 0.6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6775704" y="4059936"/>
            <a:ext cx="1847088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775704" y="4105656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→ Codify the improved process: Week 1 touchpoint is now non-negotiable in every sprint definition of done.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DELIVERABLE 03  ·  RECOMMENDATIONS FOR SPRINT 5+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F1F3D"/>
                </a:solidFill>
              </a:rPr>
              <a:t>6 Recommendations — Ranked by Impact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33272"/>
            <a:ext cx="484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794760" y="1033272"/>
            <a:ext cx="621792" cy="201168"/>
          </a:xfrm>
          <a:prstGeom prst="roundRect">
            <a:avLst>
              <a:gd name="adj" fmla="val 1818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033272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</a:rPr>
              <a:t>Critical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41832" y="1033272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0F1F3D"/>
                </a:solidFill>
              </a:rPr>
              <a:t>Scope freeze protocol (highest priority)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435608"/>
            <a:ext cx="40050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A2A3A"/>
                </a:solidFill>
              </a:rPr>
              <a:t>No new work enters an active sprint after kickoff. Period. This single change would have prevented Sprint 3's collapse. Exceptions: P5 production defects only, approved by SM + PO together.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27448" y="960120"/>
            <a:ext cx="4206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64608" y="1033272"/>
            <a:ext cx="484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6F1E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202168" y="1033272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02168" y="1033272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A6F1E"/>
                </a:solidFill>
              </a:rPr>
              <a:t>High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49240" y="1033272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0F1F3D"/>
                </a:solidFill>
              </a:rPr>
              <a:t>Acceptance criteria gate at sprint planning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4608" y="1435608"/>
            <a:ext cx="40050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A2A3A"/>
                </a:solidFill>
              </a:rPr>
              <a:t>Stories without complete, agreed AC cannot enter the sprint backlog. PO owns a checklist. This breaks the Sprint 2 → Sprint 3 root cause chain at its source.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295144"/>
            <a:ext cx="4206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368296"/>
            <a:ext cx="484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A6F1E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3794760" y="2368296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236829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A6F1E"/>
                </a:solidFill>
              </a:rPr>
              <a:t>High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41832" y="236829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0F1F3D"/>
                </a:solidFill>
              </a:rPr>
              <a:t>Week 1 customer feedback touchpoint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2770632"/>
            <a:ext cx="40050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A2A3A"/>
                </a:solidFill>
              </a:rPr>
              <a:t>Not just at sprint review. A mid-sprint feedback window (end of Week 1) allows pivots before scope is locked. The Sprint 2 pattern showed what happens when feedback arrives too late.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27448" y="2295144"/>
            <a:ext cx="4206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2368296"/>
            <a:ext cx="484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8202168" y="2368296"/>
            <a:ext cx="475488" cy="201168"/>
          </a:xfrm>
          <a:prstGeom prst="roundRect">
            <a:avLst>
              <a:gd name="adj" fmla="val 18182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02168" y="2368296"/>
            <a:ext cx="475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A6F1E"/>
                </a:solidFill>
              </a:rPr>
              <a:t>High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349240" y="236829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0F1F3D"/>
                </a:solidFill>
              </a:rPr>
              <a:t>QA exploratory testing upskill (Sprint 5 risk)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2770632"/>
            <a:ext cx="40050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A2A3A"/>
                </a:solidFill>
              </a:rPr>
              <a:t>ID 203's gap in exploratory testing is the most acute risk for Sprint 5's AI features. Non-deterministic AI outputs cannot be regression-tested. Pair 203 with a senior tester this sprint — not next quarter.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630168"/>
            <a:ext cx="4206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3703320"/>
            <a:ext cx="484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5EA8"/>
                </a:solidFill>
              </a:rPr>
              <a:t>05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794760" y="370332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EBF5FB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70332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5EA8"/>
                </a:solidFill>
              </a:rPr>
              <a:t>Medium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941832" y="370332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0F1F3D"/>
                </a:solidFill>
              </a:rPr>
              <a:t>Daily burn rate monitoring by Scrum Master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105656"/>
            <a:ext cx="40050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A2A3A"/>
                </a:solidFill>
              </a:rPr>
              <a:t>ID 204 should review story point burn daily and trigger a rebalance conversation if any team member drifts more than 20% from forecast. This catches workload imbalances before they become Sprint 1-style problems.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27448" y="3630168"/>
            <a:ext cx="4206240" cy="12252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64608" y="3703320"/>
            <a:ext cx="484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7A75"/>
                </a:solidFill>
              </a:rPr>
              <a:t>06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8202168" y="370332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EBF5FB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02168" y="370332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5EA8"/>
                </a:solidFill>
              </a:rPr>
              <a:t>Medium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49240" y="3703320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b="1" dirty="0">
                <a:solidFill>
                  <a:srgbClr val="0F1F3D"/>
                </a:solidFill>
              </a:rPr>
              <a:t>Recommendation engine sequenced before Push Notifications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64608" y="4105656"/>
            <a:ext cx="40050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1A2A3A"/>
                </a:solidFill>
              </a:rPr>
              <a:t>Push Notifications sent without personalization data create opt-out fatigue. The recommendation engine (Sprint 5) must be live before Push Notifications (Sprint 6) to make notification content worth receiving.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DELIVERABLE 04  ·  TEAM DYNAMICS OPTIMIZATION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F1F3D"/>
                </a:solidFill>
              </a:rPr>
              <a:t>Team Profile Analysis &amp; Sprint 5 Compositions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402336"/>
          </a:xfrm>
          <a:prstGeom prst="roundRect">
            <a:avLst>
              <a:gd name="adj" fmla="val 13636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0D9488"/>
                </a:solidFill>
              </a:rPr>
              <a:t>My team risk assessment: The Frontend Developer (4.0/5) is the team's lowest performer AND appears on 2 of 3 Sprint 5 workstreams. This is a single-point-of-failure risk. The QA Engineer's exploratory gap is the #1 technical risk for Sprint 5 AI features.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2743200" cy="5486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" y="1453896"/>
            <a:ext cx="402336" cy="402336"/>
          </a:xfrm>
          <a:prstGeom prst="ellipse">
            <a:avLst/>
          </a:prstGeom>
          <a:solidFill>
            <a:srgbClr val="0B7A75">
              <a:alpha val="18000"/>
            </a:srgbClr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53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7A75"/>
                </a:solidFill>
              </a:rPr>
              <a:t>BD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145389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0F1F3D"/>
                </a:solidFill>
              </a:rPr>
              <a:t>ID 201 · Backend Dev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1664208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A6A7E"/>
                </a:solidFill>
              </a:rPr>
              <a:t>Python · Java · SQL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29768" y="1901950"/>
            <a:ext cx="2505456" cy="265178"/>
          </a:xfrm>
          <a:prstGeom prst="roundRect">
            <a:avLst>
              <a:gd name="adj" fmla="val 22222"/>
            </a:avLst>
          </a:prstGeom>
          <a:solidFill>
            <a:srgbClr val="E9F7E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1929384"/>
            <a:ext cx="25877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7A4A"/>
                </a:solidFill>
              </a:rPr>
              <a:t>Risk: Low — Strongest technical performer. </a:t>
            </a:r>
          </a:p>
          <a:p>
            <a:pPr marL="0" indent="0" algn="just">
              <a:buNone/>
            </a:pPr>
            <a:r>
              <a:rPr lang="en-US" sz="750" dirty="0">
                <a:solidFill>
                  <a:srgbClr val="1A7A4A"/>
                </a:solidFill>
              </a:rPr>
              <a:t>Risk: overallocation 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9768" y="216712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Perf: 4.5/5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29768" y="2331720"/>
            <a:ext cx="2523744" cy="7315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" y="2331720"/>
            <a:ext cx="227137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2468880"/>
            <a:ext cx="2523744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5146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S5 role: Lead: Workstream A (Recommendations) + B support (Chat API)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9768" y="275234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0D9488"/>
                </a:solidFill>
              </a:rPr>
              <a:t>Gap: Cloud computing → AWS cert (Sprint 6 onboarding)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72968" y="132588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72968" y="132588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82696" y="1453896"/>
            <a:ext cx="402336" cy="402336"/>
          </a:xfrm>
          <a:prstGeom prst="ellipse">
            <a:avLst/>
          </a:prstGeom>
          <a:solidFill>
            <a:srgbClr val="C0392B">
              <a:alpha val="18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1453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FD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67328" y="145389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0F1F3D"/>
                </a:solidFill>
              </a:rPr>
              <a:t>ID 202 · Frontend Dev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67328" y="1664208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A6A7E"/>
                </a:solidFill>
              </a:rPr>
              <a:t>JS · React · CSS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82696" y="1901950"/>
            <a:ext cx="2523744" cy="256033"/>
          </a:xfrm>
          <a:prstGeom prst="roundRect">
            <a:avLst>
              <a:gd name="adj" fmla="val 2222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1947672"/>
            <a:ext cx="250545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C0392B"/>
                </a:solidFill>
              </a:rPr>
              <a:t>Risk: HIGH — Lowest score + appears on 2 workstreams. Backend gap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282696" y="216712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Perf: 4/5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82696" y="2331720"/>
            <a:ext cx="2523744" cy="7315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82696" y="2331720"/>
            <a:ext cx="2018995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82696" y="2468880"/>
            <a:ext cx="2523744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25146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S5 role: Lead: Workstream C (Multi-Language) + Workstream A UI integration.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282696" y="275234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0D9488"/>
                </a:solidFill>
              </a:rPr>
              <a:t>Gap: Backend integration depth → Integration workshops — this sprint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025896" y="132588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25896" y="132588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35624" y="1453896"/>
            <a:ext cx="402336" cy="402336"/>
          </a:xfrm>
          <a:prstGeom prst="ellipse">
            <a:avLst/>
          </a:prstGeom>
          <a:solidFill>
            <a:srgbClr val="C0392B">
              <a:alpha val="18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35624" y="14538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</a:rPr>
              <a:t>QA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20256" y="145389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0F1F3D"/>
                </a:solidFill>
              </a:rPr>
              <a:t>ID 203 · QA Engineer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620256" y="1664208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A6A7E"/>
                </a:solidFill>
              </a:rPr>
              <a:t>Selenium · Auto Testing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135624" y="1892808"/>
            <a:ext cx="2523744" cy="256032"/>
          </a:xfrm>
          <a:prstGeom prst="roundRect">
            <a:avLst>
              <a:gd name="adj" fmla="val 2222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0488" y="1929384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0392B"/>
                </a:solidFill>
              </a:rPr>
              <a:t>Risk: HIGH — Automated testing cannot validate AI chat outputs.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35624" y="216712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Perf: 4.2/5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135624" y="2331720"/>
            <a:ext cx="2523744" cy="7315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35624" y="2331720"/>
            <a:ext cx="2119945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35624" y="2468880"/>
            <a:ext cx="2523744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35624" y="251460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S5 role: Lead: Workstream B testing (AI Chat non-deterministic output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135624" y="275234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0D9488"/>
                </a:solidFill>
              </a:rPr>
              <a:t>Gap: Exploratory testing → Pair with senior tester this sprint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20040" y="320040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" y="3200400"/>
            <a:ext cx="2743200" cy="5486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" y="3328416"/>
            <a:ext cx="402336" cy="402336"/>
          </a:xfrm>
          <a:prstGeom prst="ellipse">
            <a:avLst/>
          </a:prstGeom>
          <a:solidFill>
            <a:srgbClr val="1A7A4A">
              <a:alpha val="18000"/>
            </a:srgbClr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" y="3328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7A4A"/>
                </a:solidFill>
              </a:rPr>
              <a:t>SM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14400" y="332841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0F1F3D"/>
                </a:solidFill>
              </a:rPr>
              <a:t>ID 204 · Scrum Master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14400" y="3538728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A6A7E"/>
                </a:solidFill>
              </a:rPr>
              <a:t>Agile · Conflict Res.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20624" y="3767328"/>
            <a:ext cx="2523744" cy="246888"/>
          </a:xfrm>
          <a:prstGeom prst="roundRect">
            <a:avLst>
              <a:gd name="adj" fmla="val 22222"/>
            </a:avLst>
          </a:prstGeom>
          <a:solidFill>
            <a:srgbClr val="E9F7E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4632" y="3803904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7A4A"/>
                </a:solidFill>
              </a:rPr>
              <a:t>Risk: Low — Highest performer. Key role: prevent Sprint 3-style 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29768" y="404164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Perf: 4.8/5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29768" y="4206240"/>
            <a:ext cx="2523744" cy="7315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9768" y="4206240"/>
            <a:ext cx="2422794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9768" y="4343400"/>
            <a:ext cx="2523744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9768" y="438912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S5 role: Cross-workstream facilitation · daily burn monitoring · dependency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29768" y="462686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0D9488"/>
                </a:solidFill>
              </a:rPr>
              <a:t>Gap: Technical coaching → Technical coaching resources — lower challenges with technical coaching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172968" y="320040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172968" y="3200400"/>
            <a:ext cx="2743200" cy="54864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82696" y="3328416"/>
            <a:ext cx="402336" cy="402336"/>
          </a:xfrm>
          <a:prstGeom prst="ellipse">
            <a:avLst/>
          </a:prstGeom>
          <a:solidFill>
            <a:srgbClr val="CA6F1E">
              <a:alpha val="18000"/>
            </a:srgbClr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82696" y="3328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6F1E"/>
                </a:solidFill>
              </a:rPr>
              <a:t>PO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767328" y="332841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0F1F3D"/>
                </a:solidFill>
              </a:rPr>
              <a:t>ID 205 · Product Owner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3767328" y="3538728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A6A7E"/>
                </a:solidFill>
              </a:rPr>
              <a:t>Req Gathering · Stakeholder Mgmt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82696" y="3758184"/>
            <a:ext cx="2523744" cy="265176"/>
          </a:xfrm>
          <a:prstGeom prst="roundRect">
            <a:avLst>
              <a:gd name="adj" fmla="val 22222"/>
            </a:avLst>
          </a:prstGeom>
          <a:solidFill>
            <a:srgbClr val="FEF9E7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337560" y="3803904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CA6F1E"/>
                </a:solidFill>
              </a:rPr>
              <a:t>Risk: Medium — Copy approval bottleneck for Multi-Language.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3282696" y="404164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Perf: 4.6/5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282696" y="4206240"/>
            <a:ext cx="2523744" cy="7315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82696" y="4206240"/>
            <a:ext cx="2321844" cy="73152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282696" y="4343400"/>
            <a:ext cx="2523744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82696" y="438912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S5 role: Workstream C (Multi-Language) — market selection, copy approved.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282696" y="462686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0D9488"/>
                </a:solidFill>
              </a:rPr>
              <a:t>Gap: Competitor analysis tooling → Amplitude access request — move to this sprint.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025896" y="3200400"/>
            <a:ext cx="274320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025896" y="3200400"/>
            <a:ext cx="2743200" cy="54864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135624" y="3328416"/>
            <a:ext cx="402336" cy="402336"/>
          </a:xfrm>
          <a:prstGeom prst="ellipse">
            <a:avLst/>
          </a:prstGeom>
          <a:solidFill>
            <a:srgbClr val="0B7A75">
              <a:alpha val="18000"/>
            </a:srgbClr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135624" y="3328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7A75"/>
                </a:solidFill>
              </a:rPr>
              <a:t>UX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32841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0F1F3D"/>
                </a:solidFill>
              </a:rPr>
              <a:t>ID 206 · UI/UX Designer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3538728"/>
            <a:ext cx="2057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5A6A7E"/>
                </a:solidFill>
              </a:rPr>
              <a:t>Wireframing · Figma · Prototyping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35624" y="3758184"/>
            <a:ext cx="2523744" cy="283464"/>
          </a:xfrm>
          <a:prstGeom prst="roundRect">
            <a:avLst>
              <a:gd name="adj" fmla="val 22222"/>
            </a:avLst>
          </a:prstGeom>
          <a:solidFill>
            <a:srgbClr val="E9F7E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90488" y="3803904"/>
            <a:ext cx="2450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7A4A"/>
                </a:solidFill>
              </a:rPr>
              <a:t>Risk: Low — Motion design gap only matters for Sprint 7+ AR feat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6135624" y="4041648"/>
            <a:ext cx="1097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5A6A7E"/>
                </a:solidFill>
              </a:rPr>
              <a:t>Perf: 4.1/5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6135624" y="4206240"/>
            <a:ext cx="2523744" cy="73152"/>
          </a:xfrm>
          <a:prstGeom prst="rect">
            <a:avLst/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35624" y="4206240"/>
            <a:ext cx="206947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135624" y="4343400"/>
            <a:ext cx="2523744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35624" y="438912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1A2A3A"/>
                </a:solidFill>
              </a:rPr>
              <a:t>S5 role: Workstream C (Multi-Language locale layouts + RTL support)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6135624" y="4626864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750" dirty="0">
                <a:solidFill>
                  <a:srgbClr val="0D9488"/>
                </a:solidFill>
              </a:rPr>
              <a:t>Gap: Advanced motion design → After Effects — defer to Sprint 7+ 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DELIVERABLE 04  ·  SIMULATED COACHING SESSIONS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F1F3D"/>
                </a:solidFill>
              </a:rPr>
              <a:t>Coaching Sessions: Candid, Role-Specific Feedback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206240" cy="274320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96696"/>
            <a:ext cx="219456" cy="21945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1480" y="9966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FD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04088" y="9966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 Developer — ID 202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1289304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i="1" dirty="0">
                <a:solidFill>
                  <a:srgbClr val="1A2A3A"/>
                </a:solidFill>
              </a:rPr>
              <a:t>Let's be direct: you're on two of three workstreams in Sprint 5, and your performance score of 4.0 is the team's lowest. That's not a criticism — it's context for this conversation.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9768" y="1600200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64592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7A4A"/>
                </a:solidFill>
              </a:rPr>
              <a:t>Strength: Your React component consistency has improved every sprint. The UI work you shipped in Sprint 4 ran ahead of schedule. That matters.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9768" y="198424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Growth: The backend integration gap is the most urgent thing on your plate. Not the integration workshop next quarter — this sprint. When you hit an API question, stop and pair with ID 201 the same day, not the same week. Latency on that question is what stalls workstream 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9768" y="2459736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49631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1B5EA8"/>
                </a:solidFill>
              </a:rPr>
              <a:t>Commitment: Sprint 5 commitment: API contract review with ID 201 on Day 3. Daily stand-up flag if you're blocked on any integration point.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27448" y="9601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960120"/>
            <a:ext cx="4206240" cy="27432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8888" y="996696"/>
            <a:ext cx="219456" cy="21945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9966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QA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111496" y="9966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FFFFFF"/>
                </a:solidFill>
              </a:rPr>
              <a:t>QA Engineer — ID 203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37176" y="1289304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i="1" dirty="0">
                <a:solidFill>
                  <a:srgbClr val="1A2A3A"/>
                </a:solidFill>
              </a:rPr>
              <a:t>Workstream B is testing AI chat outputs. Automated test scripts will cover about 40% of what you need to validate. The other 60% requires judgment — and that's the gap we're addressing this sprint.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37176" y="1600200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37176" y="1645920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7A4A"/>
                </a:solidFill>
              </a:rPr>
              <a:t>Strength: Your Selenium suite has been genuinely valuable. The regression coverage has caught real bugs before production. That discipline is exactly what I want you to apply to exploratory testing.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37176" y="198424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Growth: Exploratory testing is not random clicking — it's structured hypothesis-driven investigation. For the chatbot, I want you to build a set of 'adversarial' conversation flows: edge cases, ambiguous inputs, language the model might misinterpret. Write them down before you run them.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37176" y="2459736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7176" y="249631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CA6F1E"/>
                </a:solidFill>
              </a:rPr>
              <a:t>Commitment: Sprint 5 commitment: Shadow a senior QA for one session in Week 1. Deliver 20 adversarial chat test scenarios before mid-sprint demo.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295351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53512"/>
            <a:ext cx="4206240" cy="2743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990088"/>
            <a:ext cx="219456" cy="21945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29900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PO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04088" y="29900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Owner — ID 205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" y="3282696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i="1" dirty="0">
                <a:solidFill>
                  <a:srgbClr val="1A2A3A"/>
                </a:solidFill>
              </a:rPr>
              <a:t>The feedback cadence improvement you drove in Sprint 4 is one of the most important process changes this team has made. It directly prevented a repeat of the Sprint 2→3 problem. Own that.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29768" y="3593592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63931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7A4A"/>
                </a:solidFill>
              </a:rPr>
              <a:t>Strength: Your stakeholder management is the team's highest-leverage skill. You translate ambiguous customer needs into concrete requirements faster than anyone. That's rare.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9768" y="397764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Growth: The competitor analysis gap matters for one specific reason: when you're setting backlog priorities, you're working without a market map. Amplitude or a similar tool gives you actual user behaviour data from the market, not just stakeholder opinion. Request access this sprint.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29768" y="4453128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448970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0B7A75"/>
                </a:solidFill>
              </a:rPr>
              <a:t>Commitment: Sprint 5 commitment: Multi-Language market list finalized by Day 2. All AC for P5 features signed off before kickoff. No exceptions.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27448" y="2953512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27448" y="2953512"/>
            <a:ext cx="4206240" cy="2743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18888" y="2990088"/>
            <a:ext cx="219456" cy="219456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29900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111496" y="299008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b="1" dirty="0">
                <a:solidFill>
                  <a:srgbClr val="FFFFFF"/>
                </a:solidFill>
              </a:rPr>
              <a:t>Scrum Master — ID 204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37176" y="3282696"/>
            <a:ext cx="4005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i="1" dirty="0">
                <a:solidFill>
                  <a:srgbClr val="1A2A3A"/>
                </a:solidFill>
              </a:rPr>
              <a:t>Your facilitation is the team's highest-rated performance (4.8). The challenge now is that Sprint 5 is the most complex sprint this team has run — three parallel workstreams, two high-risk team members, and AI features with unpredictable testing profiles.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837176" y="3593592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37176" y="3639312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7A4A"/>
                </a:solidFill>
              </a:rPr>
              <a:t>Strength: You resolved the Sprint 3 workload crisis without escalating it into a team conflict. That de-escalation skill is what makes the difference between a bad sprint and a team breakdown.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37176" y="397764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Growth: Technical coaching is your stated gap, and it matters more in Sprint 5 than it ever has. You don't need to write the code — you need to understand the architecture well enough to know when workstream A is blocking workstream B and why. Spend 2 hours with ID 201 on the recommendation API design before Sprint 5 kicks off.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37176" y="4453128"/>
            <a:ext cx="4005072" cy="0"/>
          </a:xfrm>
          <a:prstGeom prst="line">
            <a:avLst/>
          </a:prstGeom>
          <a:noFill/>
          <a:ln w="12700">
            <a:solidFill>
              <a:srgbClr val="E8ED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37176" y="4489704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dirty="0">
                <a:solidFill>
                  <a:srgbClr val="1A7A4A"/>
                </a:solidFill>
              </a:rPr>
              <a:t>Commitment: Sprint 5 commitment: Daily burn monitoring with explicit blocker escalation protocol. If ID 202 or ID 203 is blocked for more than 4 hours, you intervene — not wait for the stand-up.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b="1" kern="0" spc="200" dirty="0">
                <a:solidFill>
                  <a:srgbClr val="0D9488"/>
                </a:solidFill>
              </a:rPr>
              <a:t>DELIVERABLE 04  ·  CONFLICT RESOLUTION &amp; OPTIMAL COMPOSITIONS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8404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F1F3D"/>
                </a:solidFill>
              </a:rPr>
              <a:t>Conflict Resolution &amp; Optimal Team Configurations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4160520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93268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Conflict Resolution Strategies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61872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984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0F1F3D"/>
                </a:solidFill>
              </a:rPr>
              <a:t>Frontend overallocation (Sprint 5 risk)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51790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ID 202 on 2 workstreams. SM must monitor daily — if Workstream C (Multi-Language) is behind, Workstream A (Rec UI) takes lower priority. Sequence: complete integration work first each day, then localization.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64008" cy="65836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2996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0F1F3D"/>
                </a:solidFill>
              </a:rPr>
              <a:t>Scope creep prevention (Sprint 3 prevention)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2494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Scope freeze after Day 1. Any new request → PO logs in backlog. SM has explicit authority to reject mid-sprint scope without escalating. No exceptions without SM + PO joint agreement.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724912"/>
            <a:ext cx="64008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6148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0F1F3D"/>
                </a:solidFill>
              </a:rPr>
              <a:t>QA capacity vs AI testing complexity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298094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ID 203's 75h/sprint is insufficient if exploratory testing is untrained. Pair with a senior QA in Week 1. If a senior tester is unavailable externally, ID 204 (SM) leads one exploratory session using structured heuristics.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20040" y="3456432"/>
            <a:ext cx="64008" cy="658368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49300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0F1F3D"/>
                </a:solidFill>
              </a:rPr>
              <a:t>PO approval latency (Multi-Language risk)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7124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Content approval delays are a predictable bottleneck for localisation. PO must commit: target market list by Day 2, copy approval by Day 4. Scrum Master owns the escalation if deadlines slip.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4187952"/>
            <a:ext cx="64008" cy="658368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22452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0F1F3D"/>
                </a:solidFill>
              </a:rPr>
              <a:t>Team psychological safety (post-Sprint 3)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44398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Sprint 3 stress may have left residue. Open the Sprint 5 retrospective with a 'what went well' section before issues. SM should check in 1:1 with ID 202 and 203 at Week 1 midpoint.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6572" y="978320"/>
            <a:ext cx="4160520" cy="4005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914400"/>
            <a:ext cx="4160520" cy="27432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9326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Optimal Team Configurations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0016" y="1261872"/>
            <a:ext cx="4041648" cy="201168"/>
          </a:xfrm>
          <a:prstGeom prst="roundRect">
            <a:avLst>
              <a:gd name="adj" fmla="val 18182"/>
            </a:avLst>
          </a:prstGeom>
          <a:solidFill>
            <a:srgbClr val="0B7A75">
              <a:alpha val="15000"/>
            </a:srgbClr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26187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0B7A75"/>
                </a:solidFill>
              </a:rPr>
              <a:t>Sprint 5 — Parallel workstream configuration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0016" y="1481328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i="1" dirty="0">
                <a:solidFill>
                  <a:srgbClr val="5A6A7E"/>
                </a:solidFill>
              </a:rPr>
              <a:t>Three simultaneous workstreams require SM to hold daily cross-stream sync (15 min max).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1719072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686189"/>
            <a:ext cx="3849624" cy="194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WS-A (AI Recs, 13 SP): ID 201 (80%) + ID 202 (50%)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0965" y="1913382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8324" y="1847088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WS-B (Chat Support, 10 SP): ID 201 (20%) + ID 203 (100%)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35537" y="2085272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0938" y="2014184"/>
            <a:ext cx="3822192" cy="230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WS-C (Multi-Language, 9 SP): ID 202 (50%) + ID 206 (100%) + ID 205 (30%)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36592" y="2279405"/>
            <a:ext cx="91440" cy="9144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8324" y="2215574"/>
            <a:ext cx="3831336" cy="197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SM 204 coordinates all three streams. PO 205 owns AC.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668012" y="2461846"/>
            <a:ext cx="4041648" cy="201168"/>
          </a:xfrm>
          <a:prstGeom prst="roundRect">
            <a:avLst>
              <a:gd name="adj" fmla="val 18182"/>
            </a:avLst>
          </a:prstGeom>
          <a:solidFill>
            <a:srgbClr val="1B5EA8">
              <a:alpha val="15000"/>
            </a:srgbClr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22524" y="2470639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00" b="1" dirty="0">
                <a:solidFill>
                  <a:srgbClr val="1B5EA8"/>
                </a:solidFill>
              </a:rPr>
              <a:t>Sprint 6 — Sequential delivery configuration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68012" y="2758850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i="1" dirty="0">
                <a:solidFill>
                  <a:srgbClr val="5A6A7E"/>
                </a:solidFill>
              </a:rPr>
              <a:t>Payment first (revenue impact), then Order Tracking + Voice Search in parallel, Push Notifications last.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64608" y="2976899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Week 1–1.5: ID 201+202 on Payment Integration (10 SP) — uninterrupted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30965" y="3225634"/>
            <a:ext cx="91440" cy="91440"/>
          </a:xfrm>
          <a:prstGeom prst="ellipse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3156087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Week 1.5–2: ID 201 Order Tracking (8 SP) + ID 202+206 Voice Search (9 SP)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35185" y="3376070"/>
            <a:ext cx="91440" cy="91440"/>
          </a:xfrm>
          <a:prstGeom prst="ellipse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3305116"/>
            <a:ext cx="38404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Final days: ID 202+201 Push Notifications (5 SP) — recommendation-powered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35537" y="3555917"/>
            <a:ext cx="91440" cy="91440"/>
          </a:xfrm>
          <a:prstGeom prst="ellipse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82896" y="3474720"/>
            <a:ext cx="3831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ID 203 QA runs regression continuously across all features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58516" y="3824335"/>
            <a:ext cx="4041648" cy="201168"/>
          </a:xfrm>
          <a:prstGeom prst="roundRect">
            <a:avLst>
              <a:gd name="adj" fmla="val 18182"/>
            </a:avLst>
          </a:prstGeom>
          <a:solidFill>
            <a:srgbClr val="CA6F1E">
              <a:alpha val="15000"/>
            </a:srgbClr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0016" y="3840337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6F1E"/>
                </a:solidFill>
              </a:rPr>
              <a:t>If a team member is unavailable (contingency)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681728" y="4018671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i="1" dirty="0">
                <a:solidFill>
                  <a:srgbClr val="5A6A7E"/>
                </a:solidFill>
              </a:rPr>
              <a:t>Sprint 5 single-points-of-failure: ID 202 (2 workstreams) and ID 201 (critical backend).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36592" y="4289546"/>
            <a:ext cx="91440" cy="91440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4219511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If 202 unavailable: Workstream C descoped to Sprint 6; 202 backfilled for WS-A only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36592" y="4485966"/>
            <a:ext cx="91440" cy="91440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28616" y="4426948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If 201 unavailable: Chat Support (WS-B) deprioritized; Rec engine is the critical path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30965" y="4703610"/>
            <a:ext cx="91440" cy="91440"/>
          </a:xfrm>
          <a:prstGeom prst="ellipse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8616" y="4639480"/>
            <a:ext cx="38587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00" dirty="0">
                <a:solidFill>
                  <a:srgbClr val="1A2A3A"/>
                </a:solidFill>
              </a:rPr>
              <a:t>If 203 unavailable: QA coverage of AI Chat deferred; manual testing by SM+PO</a:t>
            </a:r>
            <a:endParaRPr lang="en-US" sz="800" dirty="0"/>
          </a:p>
        </p:txBody>
      </p:sp>
      <p:sp>
        <p:nvSpPr>
          <p:cNvPr id="57" name="Shape 38"/>
          <p:cNvSpPr/>
          <p:nvPr/>
        </p:nvSpPr>
        <p:spPr>
          <a:xfrm>
            <a:off x="4736592" y="3053744"/>
            <a:ext cx="91440" cy="91440"/>
          </a:xfrm>
          <a:prstGeom prst="ellipse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Deliverables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i="1" dirty="0">
                <a:solidFill>
                  <a:srgbClr val="0D9488"/>
                </a:solidFill>
              </a:rPr>
              <a:t>AI-Driven Agile Project Management for a Tech Prod Launch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251960" cy="1691640"/>
          </a:xfrm>
          <a:prstGeom prst="rect">
            <a:avLst/>
          </a:prstGeom>
          <a:solidFill>
            <a:srgbClr val="0B7A75">
              <a:alpha val="10000"/>
            </a:srgbClr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43000"/>
            <a:ext cx="502920" cy="1691640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4300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23444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FFFFFF"/>
                </a:solidFill>
              </a:rPr>
              <a:t>AI-Prioritized Backlog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16002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15636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All 10 features prioritized with original reasoning per item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18928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8562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Payment Integration elevated above Voice Search within P4 tier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21854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148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AR Product Previews flagged for Sprint 8+ based on device adoption 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4400" y="24780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24414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Push Notifications sequenced after Recommendation Engine (dependency identified)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1143000"/>
            <a:ext cx="4251960" cy="1691640"/>
          </a:xfrm>
          <a:prstGeom prst="rect">
            <a:avLst/>
          </a:prstGeom>
          <a:solidFill>
            <a:srgbClr val="1B5EA8">
              <a:alpha val="10000"/>
            </a:srgbClr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143000"/>
            <a:ext cx="502920" cy="1691640"/>
          </a:xfrm>
          <a:prstGeom prst="rect">
            <a:avLst/>
          </a:prstGeom>
          <a:solidFill>
            <a:srgbClr val="1B5EA8"/>
          </a:solidFill>
          <a:ln w="12700">
            <a:solidFill>
              <a:srgbClr val="1B5E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4300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49240" y="123444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FFFFFF"/>
                </a:solidFill>
              </a:rPr>
              <a:t>Sprint Planning (S5 &amp; S6)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49240" y="16002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3832" y="15636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Sprint 5: 3 parallel workstreams (32 SP conservative vs 34.3 projection)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49240" y="18928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8562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Sprint 6: Sequential-then-parallel delivery, Payment Integration first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49240" y="21854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13832" y="2148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Workstream-level dependency mapping with Day-specific deadlines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49240" y="24780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4414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Contingency plan if ID 201 or 202 becomes unavailable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2971800"/>
            <a:ext cx="4251960" cy="1691640"/>
          </a:xfrm>
          <a:prstGeom prst="rect">
            <a:avLst/>
          </a:prstGeom>
          <a:solidFill>
            <a:srgbClr val="CA6F1E">
              <a:alpha val="10000"/>
            </a:srgbClr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2971800"/>
            <a:ext cx="502920" cy="1691640"/>
          </a:xfrm>
          <a:prstGeom prst="rect">
            <a:avLst/>
          </a:prstGeom>
          <a:solidFill>
            <a:srgbClr val="CA6F1E"/>
          </a:solidFill>
          <a:ln w="12700">
            <a:solidFill>
              <a:srgbClr val="CA6F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97180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14400" y="306324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FFFFFF"/>
                </a:solidFill>
              </a:rPr>
              <a:t>Retrospective Analysis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14400" y="34290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78992" y="33924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Root cause chain traced: S2 AC gaps → S2 delayed feedback → S3 scope creep → S3 overload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14400" y="37216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8992" y="3685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6 recommendations ranked by impact (2 Critical, 3 High, 1 Medium)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14400" y="40142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3977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Pattern: Sprint 3 was not an isolated incident — it was predictable and preventable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14400" y="43068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78992" y="4270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QA exploratory gap identified as #1 risk for Sprint 5 AI features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2971800"/>
            <a:ext cx="4251960" cy="1691640"/>
          </a:xfrm>
          <a:prstGeom prst="rect">
            <a:avLst/>
          </a:prstGeom>
          <a:solidFill>
            <a:srgbClr val="C0392B">
              <a:alpha val="1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971800"/>
            <a:ext cx="502920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2971800"/>
            <a:ext cx="5029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349240" y="3063240"/>
            <a:ext cx="3547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b="1" dirty="0">
                <a:solidFill>
                  <a:srgbClr val="FFFFFF"/>
                </a:solidFill>
              </a:rPr>
              <a:t>Team Dynamics &amp; Coaching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349240" y="34290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3924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ID 202 flagged as single-point-of-failure risk (2 workstreams, lowest score)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349240" y="37216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36850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4 candid coaching sessions with sprint-specific commitments and deadlines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349240" y="401421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3977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3 team configurations: Sprint 5 parallel, Sprint 6 sequential, contingency plan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49240" y="43068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13832" y="4270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850" dirty="0">
                <a:solidFill>
                  <a:srgbClr val="A8C4D8"/>
                </a:solidFill>
              </a:rPr>
              <a:t>Conflict resolution strategies mapped to specific Sprint 3 and Sprint 5 risks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65760" y="491947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A7A"/>
                </a:solidFill>
              </a:rPr>
              <a:t>All analysis derived independently from the three source dataset.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4320</Words>
  <Application>Microsoft Office PowerPoint</Application>
  <PresentationFormat>On-screen Show (16:9)</PresentationFormat>
  <Paragraphs>428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Platform — Project 3 Independent Analysis</dc:title>
  <dc:subject>PptxGenJS Presentation</dc:subject>
  <dc:creator>PptxGenJS</dc:creator>
  <cp:lastModifiedBy>Schaumburg Library</cp:lastModifiedBy>
  <cp:revision>31</cp:revision>
  <dcterms:created xsi:type="dcterms:W3CDTF">2026-03-23T22:50:53Z</dcterms:created>
  <dcterms:modified xsi:type="dcterms:W3CDTF">2026-03-25T15:38:20Z</dcterms:modified>
</cp:coreProperties>
</file>